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25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347DC-7CD6-4E40-84FC-09A11547C99B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455F0-1FB6-47A1-BFC4-0E8872A1FF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06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455F0-1FB6-47A1-BFC4-0E8872A1FF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284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455F0-1FB6-47A1-BFC4-0E8872A1FF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231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41248" y="1042415"/>
            <a:ext cx="5029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E8EDF5"/>
                </a:solidFill>
                <a:latin typeface="Microsoft YaHei"/>
                <a:ea typeface="Microsoft YaHei"/>
              </a:rPr>
              <a:t>EduMatrix 智教矩阵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49377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C2A6"/>
                </a:solidFill>
                <a:latin typeface="Consolas"/>
                <a:ea typeface="Microsoft YaHei"/>
              </a:rPr>
              <a:t>A3 · AI LEARNING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6634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C2CBD9"/>
                </a:solidFill>
                <a:latin typeface="Microsoft YaHei"/>
                <a:ea typeface="Microsoft YaHei"/>
              </a:rPr>
              <a:t>让专业学习从一次回答走向持续决策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61488"/>
            <a:ext cx="1920240" cy="54864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44805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2CBD9"/>
                </a:solidFill>
                <a:latin typeface="Microsoft YaHei"/>
                <a:ea typeface="Microsoft YaHei"/>
              </a:rPr>
              <a:t>基于大模型的个性化资源生成与学习多智能体系统研发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33087"/>
            <a:ext cx="4389120" cy="20313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b="0" i="0" dirty="0">
                <a:solidFill>
                  <a:srgbClr val="8A96AC"/>
                </a:solidFill>
                <a:latin typeface="Microsoft YaHei"/>
                <a:ea typeface="Microsoft YaHei"/>
              </a:rPr>
              <a:t>金海洋</a:t>
            </a:r>
            <a:r>
              <a:rPr sz="95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</a:t>
            </a:r>
            <a:r>
              <a:rPr sz="95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林之正</a:t>
            </a:r>
            <a:r>
              <a:rPr sz="950" b="0" i="0" dirty="0">
                <a:solidFill>
                  <a:srgbClr val="8A96AC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950" dirty="0">
                <a:solidFill>
                  <a:srgbClr val="8A96AC"/>
                </a:solidFill>
                <a:latin typeface="Microsoft YaHei"/>
                <a:ea typeface="Microsoft YaHei"/>
              </a:rPr>
              <a:t>· </a:t>
            </a:r>
            <a:r>
              <a:rPr sz="95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杨一鸿</a:t>
            </a:r>
            <a:endParaRPr sz="950" b="0" i="0" dirty="0">
              <a:solidFill>
                <a:srgbClr val="8A96A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52" y="411480"/>
            <a:ext cx="54864" cy="4096512"/>
          </a:xfrm>
          <a:prstGeom prst="rect">
            <a:avLst/>
          </a:prstGeom>
          <a:solidFill>
            <a:srgbClr val="4F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87568" y="932688"/>
            <a:ext cx="2880360" cy="347472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61888" y="12344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08192" y="1289304"/>
            <a:ext cx="20391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508760"/>
            <a:ext cx="203911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82"/>
                </a:solidFill>
                <a:latin typeface="Microsoft YaHei"/>
                <a:ea typeface="Microsoft YaHei"/>
              </a:rPr>
              <a:t>学生背景 / 目标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22592" y="1956816"/>
            <a:ext cx="201168" cy="18288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61888" y="2212848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08192" y="2267712"/>
            <a:ext cx="20391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487168"/>
            <a:ext cx="203911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82"/>
                </a:solidFill>
                <a:latin typeface="Microsoft YaHei"/>
                <a:ea typeface="Microsoft YaHei"/>
              </a:rPr>
              <a:t>知识库 / 图谱 / 引用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022592" y="2935224"/>
            <a:ext cx="201168" cy="18288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61888" y="3191256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08192" y="3246120"/>
            <a:ext cx="203911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A2B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3465576"/>
            <a:ext cx="203911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B82"/>
                </a:solidFill>
                <a:latin typeface="Microsoft YaHei"/>
                <a:ea typeface="Microsoft YaHei"/>
              </a:rPr>
              <a:t>答题 / 代码 / 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4087368"/>
            <a:ext cx="22860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82"/>
                </a:solidFill>
                <a:latin typeface="Consolas"/>
                <a:ea typeface="Microsoft YaHei"/>
              </a:rPr>
              <a:t>&gt;_ evidence before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4480560"/>
            <a:ext cx="28803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6AC"/>
                </a:solidFill>
                <a:latin typeface="Microsoft YaHei"/>
                <a:ea typeface="Microsoft YaHei"/>
              </a:rPr>
              <a:t>证据岛：画像 → 证据 → 反馈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50892"/>
            <a:ext cx="64922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6AC"/>
                </a:solidFill>
                <a:latin typeface="Consolas"/>
                <a:ea typeface="Microsoft YaHei"/>
              </a:rPr>
              <a:t>EDUMATRIX · 评委阅读版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垂直学习的难点，是同时保证适配与可信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556E"/>
                </a:solidFill>
                <a:latin typeface="Consolas"/>
                <a:ea typeface="Microsoft YaHei"/>
              </a:rPr>
              <a:t>01 · 为什么需要它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2971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EDF5"/>
                </a:solidFill>
                <a:latin typeface="Microsoft YaHei"/>
                <a:ea typeface="Microsoft YaHei"/>
              </a:rPr>
              <a:t>大模型会回答，不等于能教会。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2944368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2CBD9"/>
                </a:solidFill>
                <a:latin typeface="Microsoft YaHei"/>
                <a:ea typeface="Microsoft YaHei"/>
              </a:rPr>
              <a:t>官方 A3 题目要求把大模型、多智能体与个性化学习资源结合成可运行系统。难点集中在三处：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3192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273552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适配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273552"/>
            <a:ext cx="1984248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BD9"/>
                </a:solidFill>
                <a:latin typeface="Microsoft YaHei"/>
                <a:ea typeface="Microsoft YaHei"/>
              </a:rPr>
              <a:t>同一知识点要随专业背景、目标和掌握度改变顺序。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81304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767328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可信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67328"/>
            <a:ext cx="1984248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BD9"/>
                </a:solidFill>
                <a:latin typeface="Microsoft YaHei"/>
                <a:ea typeface="Microsoft YaHei"/>
              </a:rPr>
              <a:t>课程内容必须给出来源、校验过程与可追溯证据。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43068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261104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可用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61104"/>
            <a:ext cx="1984248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2CBD9"/>
                </a:solidFill>
                <a:latin typeface="Microsoft YaHei"/>
                <a:ea typeface="Microsoft YaHei"/>
              </a:rPr>
              <a:t>评委应能从输入画像看到运行、协作状态和反馈结果。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1248228"/>
            <a:ext cx="4590288" cy="3127248"/>
          </a:xfrm>
          <a:prstGeom prst="roundRect">
            <a:avLst>
              <a:gd name="adj" fmla="val 3508"/>
            </a:avLst>
          </a:prstGeom>
          <a:solidFill>
            <a:srgbClr val="0C1320"/>
          </a:solidFill>
          <a:ln w="1270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24528" y="1504260"/>
            <a:ext cx="3977639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EDF5"/>
                </a:solidFill>
                <a:latin typeface="Microsoft YaHei"/>
                <a:ea typeface="Microsoft YaHei"/>
              </a:rPr>
              <a:t>官方 A3 的评价焦点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1979748"/>
            <a:ext cx="768096" cy="347472"/>
          </a:xfrm>
          <a:prstGeom prst="roundRect">
            <a:avLst>
              <a:gd name="adj" fmla="val 18421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24528" y="1988892"/>
            <a:ext cx="7680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320"/>
                </a:solidFill>
                <a:latin typeface="Consolas"/>
                <a:ea typeface="Microsoft YaHei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016324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CBD9"/>
                </a:solidFill>
                <a:latin typeface="Microsoft YaHei"/>
                <a:ea typeface="Microsoft YaHei"/>
              </a:rPr>
              <a:t>创新价值与实用性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4528" y="2482668"/>
            <a:ext cx="768096" cy="347472"/>
          </a:xfrm>
          <a:prstGeom prst="roundRect">
            <a:avLst>
              <a:gd name="adj" fmla="val 18421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2491812"/>
            <a:ext cx="7680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320"/>
                </a:solidFill>
                <a:latin typeface="Consolas"/>
                <a:ea typeface="Microsoft YaHei"/>
              </a:rPr>
              <a:t>45%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9244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CBD9"/>
                </a:solidFill>
                <a:latin typeface="Microsoft YaHei"/>
                <a:ea typeface="Microsoft YaHei"/>
              </a:rPr>
              <a:t>功能实现及技术要求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24528" y="2985588"/>
            <a:ext cx="768096" cy="347472"/>
          </a:xfrm>
          <a:prstGeom prst="roundRect">
            <a:avLst>
              <a:gd name="adj" fmla="val 18421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24528" y="2994732"/>
            <a:ext cx="7680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320"/>
                </a:solidFill>
                <a:latin typeface="Consolas"/>
                <a:ea typeface="Microsoft YaHe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75504" y="3022164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CBD9"/>
                </a:solidFill>
                <a:latin typeface="Microsoft YaHei"/>
                <a:ea typeface="Microsoft YaHei"/>
              </a:rPr>
              <a:t>配套文档真实度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24528" y="3488508"/>
            <a:ext cx="768096" cy="347472"/>
          </a:xfrm>
          <a:prstGeom prst="roundRect">
            <a:avLst>
              <a:gd name="adj" fmla="val 18421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24528" y="3497651"/>
            <a:ext cx="76809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320"/>
                </a:solidFill>
                <a:latin typeface="Consolas"/>
                <a:ea typeface="Microsoft YaHei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3525084"/>
            <a:ext cx="29260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2CBD9"/>
                </a:solidFill>
                <a:latin typeface="Microsoft YaHei"/>
                <a:ea typeface="Microsoft YaHei"/>
              </a:rPr>
              <a:t>演示视频、PPT 文档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4528" y="3872556"/>
            <a:ext cx="3977639" cy="420624"/>
          </a:xfrm>
          <a:prstGeom prst="roundRect">
            <a:avLst>
              <a:gd name="adj" fmla="val 17391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70832" y="3872556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1" y="3955905"/>
            <a:ext cx="3428999" cy="23506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0C1320"/>
                </a:solidFill>
                <a:latin typeface="Microsoft YaHei"/>
                <a:ea typeface="Microsoft YaHei"/>
              </a:rPr>
              <a:t>不是把模型接上页面，而是把能力落到可验收闭环</a:t>
            </a:r>
            <a:r>
              <a:rPr sz="1150" b="0" i="0" dirty="0">
                <a:solidFill>
                  <a:srgbClr val="0C13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49884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证据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官方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A3 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赛题页面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项目需求分析</a:t>
            </a:r>
            <a:endParaRPr sz="780" b="0" i="0" dirty="0">
              <a:solidFill>
                <a:srgbClr val="8A96AC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一次学习请求，需要经过四类决策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Consolas"/>
                <a:ea typeface="Microsoft YaHei"/>
              </a:rPr>
              <a:t>02 · 产品主张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7863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Microsoft YaHei"/>
                <a:ea typeface="Microsoft YaHei"/>
              </a:rPr>
              <a:t>EduMatrix 把“提问”拆成可解释的决策链，再把结果回写到下一轮学习。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6771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322576"/>
            <a:ext cx="1307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2"/>
            <a:ext cx="1307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专业 · 目标 · 问题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04288" y="2532888"/>
            <a:ext cx="2743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97480" y="226771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0C1320"/>
          </a:solidFill>
          <a:ln w="1524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43784" y="2322576"/>
            <a:ext cx="1307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诊断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2542032"/>
            <a:ext cx="1307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掌握度 · 弱点 · 负荷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61688" y="2532888"/>
            <a:ext cx="2743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0" y="226771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0C1320"/>
          </a:solidFill>
          <a:ln w="1524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184" y="2322576"/>
            <a:ext cx="1307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2542032"/>
            <a:ext cx="1307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文本 · 图谱 · 公式 · 视觉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419088" y="2532888"/>
            <a:ext cx="27432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12280" y="226771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0C1320"/>
          </a:solidFill>
          <a:ln w="1524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58584" y="2322576"/>
            <a:ext cx="1307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542032"/>
            <a:ext cx="1307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讲义 · 导图 · 代码 · 题目 · 脚本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38144"/>
            <a:ext cx="7818120" cy="786384"/>
          </a:xfrm>
          <a:prstGeom prst="roundRect">
            <a:avLst>
              <a:gd name="adj" fmla="val 11627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3593592"/>
            <a:ext cx="1280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C2A6"/>
                </a:solidFill>
                <a:latin typeface="Microsoft YaHei"/>
                <a:ea typeface="Microsoft YaHei"/>
              </a:rPr>
              <a:t>资源工厂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76272" y="3639312"/>
            <a:ext cx="1042415" cy="384048"/>
          </a:xfrm>
          <a:prstGeom prst="roundRect">
            <a:avLst>
              <a:gd name="adj" fmla="val 19047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76272" y="3657600"/>
            <a:ext cx="10424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讲义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3639312"/>
            <a:ext cx="1042415" cy="384048"/>
          </a:xfrm>
          <a:prstGeom prst="roundRect">
            <a:avLst>
              <a:gd name="adj" fmla="val 19047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0" y="3657600"/>
            <a:ext cx="10424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思维导图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0288" y="3639312"/>
            <a:ext cx="1042415" cy="384048"/>
          </a:xfrm>
          <a:prstGeom prst="roundRect">
            <a:avLst>
              <a:gd name="adj" fmla="val 19047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3657600"/>
            <a:ext cx="10424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代码案例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97296" y="3639312"/>
            <a:ext cx="1042415" cy="384048"/>
          </a:xfrm>
          <a:prstGeom prst="roundRect">
            <a:avLst>
              <a:gd name="adj" fmla="val 19047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97296" y="3657600"/>
            <a:ext cx="10424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练习题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04304" y="3639312"/>
            <a:ext cx="1042415" cy="384048"/>
          </a:xfrm>
          <a:prstGeom prst="roundRect">
            <a:avLst>
              <a:gd name="adj" fmla="val 19047"/>
            </a:avLst>
          </a:prstGeom>
          <a:solidFill>
            <a:srgbClr val="E0556E"/>
          </a:solidFill>
          <a:ln w="635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04304" y="3657600"/>
            <a:ext cx="1042415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视频/TTS 脚本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281678"/>
            <a:ext cx="7818120" cy="420624"/>
          </a:xfrm>
          <a:prstGeom prst="roundRect">
            <a:avLst>
              <a:gd name="adj" fmla="val 17391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" y="4281678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记忆点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4281678"/>
            <a:ext cx="668426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系统输出的不是一段答案，而是一组带依据、可反馈的学习资源。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82896"/>
            <a:ext cx="75895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EduMatrix 完整技术文档 §1、§3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系统先读取学习者差异，再组织学习内容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8BF0"/>
                </a:solidFill>
                <a:latin typeface="Consolas"/>
                <a:ea typeface="Microsoft YaHei"/>
              </a:rPr>
              <a:t>03 · 个性化入口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92608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EDF5"/>
                </a:solidFill>
                <a:latin typeface="Microsoft YaHei"/>
                <a:ea typeface="Microsoft YaHei"/>
              </a:rPr>
              <a:t>画像不是标签，而是资源编排的输入。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48840"/>
            <a:ext cx="288950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2CBD9"/>
                </a:solidFill>
                <a:latin typeface="Microsoft YaHei"/>
                <a:ea typeface="Microsoft YaHei"/>
              </a:rPr>
              <a:t>当前演示使用三组合成画像，固定同一知识问题，观察画像字段如何进入策略链。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1554480"/>
            <a:ext cx="4526280" cy="713232"/>
          </a:xfrm>
          <a:prstGeom prst="roundRect">
            <a:avLst>
              <a:gd name="adj" fmla="val 12820"/>
            </a:avLst>
          </a:prstGeom>
          <a:solidFill>
            <a:srgbClr val="0C1320"/>
          </a:solidFill>
          <a:ln w="1397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05072" y="1719072"/>
            <a:ext cx="402336" cy="384048"/>
          </a:xfrm>
          <a:prstGeom prst="roundRect">
            <a:avLst>
              <a:gd name="adj" fmla="val 19047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719072"/>
            <a:ext cx="40233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1320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82495"/>
            <a:ext cx="23317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视觉型计算机本科生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25146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期末复习 · 图示演示 · 具体例子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76479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C1320"/>
          </a:solidFill>
          <a:ln w="1143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88352" y="1773936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Microsoft YaHei"/>
                <a:ea typeface="Microsoft YaHei"/>
              </a:rPr>
              <a:t>图示优先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2191" y="2514600"/>
            <a:ext cx="4526280" cy="713232"/>
          </a:xfrm>
          <a:prstGeom prst="roundRect">
            <a:avLst>
              <a:gd name="adj" fmla="val 12820"/>
            </a:avLst>
          </a:prstGeom>
          <a:solidFill>
            <a:srgbClr val="0C1320"/>
          </a:solidFill>
          <a:ln w="1397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005072" y="2679192"/>
            <a:ext cx="402336" cy="384048"/>
          </a:xfrm>
          <a:prstGeom prst="roundRect">
            <a:avLst>
              <a:gd name="adj" fmla="val 19047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05072" y="2679192"/>
            <a:ext cx="40233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132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642616"/>
            <a:ext cx="23317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项目型软件工程学生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898648"/>
            <a:ext cx="25146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面试准备 · 代码实操 · 分步引导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88352" y="272491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C1320"/>
          </a:solidFill>
          <a:ln w="1143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88352" y="2734056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Microsoft YaHei"/>
                <a:ea typeface="Microsoft YaHei"/>
              </a:rPr>
              <a:t>实践优先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22191" y="3474720"/>
            <a:ext cx="4526280" cy="713232"/>
          </a:xfrm>
          <a:prstGeom prst="roundRect">
            <a:avLst>
              <a:gd name="adj" fmla="val 12820"/>
            </a:avLst>
          </a:prstGeom>
          <a:solidFill>
            <a:srgbClr val="0C1320"/>
          </a:solidFill>
          <a:ln w="1397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005072" y="3639312"/>
            <a:ext cx="402336" cy="384048"/>
          </a:xfrm>
          <a:prstGeom prst="roundRect">
            <a:avLst>
              <a:gd name="adj" fmla="val 19047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05072" y="3639312"/>
            <a:ext cx="40233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C132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3602736"/>
            <a:ext cx="23317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跨专业研究型学习者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858768"/>
            <a:ext cx="251460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科研深造 · 对比解析 · 分步引导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88352" y="3685032"/>
            <a:ext cx="713232" cy="292608"/>
          </a:xfrm>
          <a:prstGeom prst="roundRect">
            <a:avLst>
              <a:gd name="adj" fmla="val 18750"/>
            </a:avLst>
          </a:prstGeom>
          <a:solidFill>
            <a:srgbClr val="0C1320"/>
          </a:solidFill>
          <a:ln w="1143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88352" y="3694176"/>
            <a:ext cx="7132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8BF0"/>
                </a:solidFill>
                <a:latin typeface="Microsoft YaHei"/>
                <a:ea typeface="Microsoft YaHei"/>
              </a:rPr>
              <a:t>解释优先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023360"/>
            <a:ext cx="2926080" cy="420624"/>
          </a:xfrm>
          <a:prstGeom prst="roundRect">
            <a:avLst>
              <a:gd name="adj" fmla="val 17391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4023360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边界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023360"/>
            <a:ext cx="17922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合成演示数据，不等于真实用户调研。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76572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innovation_evidence/synthetic_profiles.json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反馈不是结束，而是下一轮个性化决策的输入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04 · 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463040"/>
            <a:ext cx="4526280" cy="2889504"/>
          </a:xfrm>
          <a:prstGeom prst="roundRect">
            <a:avLst>
              <a:gd name="adj" fmla="val 4430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图 02 · 每次学习交互都会反哺画像、路径和资源选择" title="图 02 · 每次学习交互都会反哺画像、路径和资源选择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1588827"/>
            <a:ext cx="4306824" cy="26379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4443984"/>
            <a:ext cx="45262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图 02 · 每次学习交互都会反哺画像、路径和资源选择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536192"/>
            <a:ext cx="2926080" cy="594360"/>
          </a:xfrm>
          <a:prstGeom prst="roundRect">
            <a:avLst>
              <a:gd name="adj" fmla="val 12307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4944" y="1655064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1655064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1609344"/>
            <a:ext cx="22128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画像输入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1828800"/>
            <a:ext cx="2212848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专业、目标、偏好、历史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267712"/>
            <a:ext cx="2926080" cy="594360"/>
          </a:xfrm>
          <a:prstGeom prst="roundRect">
            <a:avLst>
              <a:gd name="adj" fmla="val 12307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2386584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2340864"/>
            <a:ext cx="22128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状态诊断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2560320"/>
            <a:ext cx="2212848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掌握度、弱点、误概念、负荷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2999232"/>
            <a:ext cx="2926080" cy="594360"/>
          </a:xfrm>
          <a:prstGeom prst="roundRect">
            <a:avLst>
              <a:gd name="adj" fmla="val 12307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944" y="3118103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3118103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3072384"/>
            <a:ext cx="22128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路径与资源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3291839"/>
            <a:ext cx="2212848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ZPD 路径 + 证据检索 + 资源生成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730752"/>
            <a:ext cx="2926080" cy="594360"/>
          </a:xfrm>
          <a:prstGeom prst="roundRect">
            <a:avLst>
              <a:gd name="adj" fmla="val 12307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" y="3849624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3803904"/>
            <a:ext cx="2212848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反馈更新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9576" y="4023360"/>
            <a:ext cx="2212848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答题、代码、追问、复习行为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4576572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EduMatrix 完整技术文档 §1、§6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四层架构，串起体验、编排、智能与运行边界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Consolas"/>
                <a:ea typeface="Microsoft YaHei"/>
              </a:rPr>
              <a:t>05 · 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28346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EDF5"/>
                </a:solidFill>
                <a:latin typeface="Microsoft YaHei"/>
                <a:ea typeface="Microsoft YaHei"/>
              </a:rPr>
              <a:t>评委看到的每个页面，都能回到一条后端和数据链路。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084831"/>
            <a:ext cx="2944368" cy="402336"/>
          </a:xfrm>
          <a:prstGeom prst="roundRect">
            <a:avLst>
              <a:gd name="adj" fmla="val 15909"/>
            </a:avLst>
          </a:prstGeom>
          <a:solidFill>
            <a:srgbClr val="0C1320"/>
          </a:solidFill>
          <a:ln w="1397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DF5"/>
                </a:solidFill>
                <a:latin typeface="Microsoft YaHei"/>
                <a:ea typeface="Microsoft YaHei"/>
              </a:rPr>
              <a:t>前端展示层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Vue 3 · SSE · Markdown · 图谱/图表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2651760"/>
            <a:ext cx="2944368" cy="402336"/>
          </a:xfrm>
          <a:prstGeom prst="roundRect">
            <a:avLst>
              <a:gd name="adj" fmla="val 15909"/>
            </a:avLst>
          </a:prstGeom>
          <a:solidFill>
            <a:srgbClr val="0C1320"/>
          </a:solidFill>
          <a:ln w="1397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910" y="2725655"/>
            <a:ext cx="1232190" cy="227113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FastAPI</a:t>
            </a:r>
            <a:r>
              <a:rPr sz="1100" b="1" i="0" dirty="0">
                <a:solidFill>
                  <a:srgbClr val="E8EDF5"/>
                </a:solidFill>
                <a:latin typeface="Microsoft YaHei"/>
                <a:ea typeface="Microsoft YaHei"/>
              </a:rPr>
              <a:t> </a:t>
            </a:r>
            <a:r>
              <a:rPr sz="11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接口层</a:t>
            </a:r>
            <a:endParaRPr sz="1100" b="1" i="0" dirty="0">
              <a:solidFill>
                <a:srgbClr val="E8EDF5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706624"/>
            <a:ext cx="15544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认证 · 画像 · 对话 · 知识库 · 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3218687"/>
            <a:ext cx="2944368" cy="402336"/>
          </a:xfrm>
          <a:prstGeom prst="roundRect">
            <a:avLst>
              <a:gd name="adj" fmla="val 15909"/>
            </a:avLst>
          </a:prstGeom>
          <a:solidFill>
            <a:srgbClr val="0C1320"/>
          </a:solidFill>
          <a:ln w="1397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273551"/>
            <a:ext cx="10058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DF5"/>
                </a:solidFill>
                <a:latin typeface="Microsoft YaHei"/>
                <a:ea typeface="Microsoft YaHei"/>
              </a:rPr>
              <a:t>智能学习引擎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73551"/>
            <a:ext cx="15544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画像探针 · ZPD · Hybrid RAG · 资源工厂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" y="3785615"/>
            <a:ext cx="2944368" cy="402336"/>
          </a:xfrm>
          <a:prstGeom prst="roundRect">
            <a:avLst>
              <a:gd name="adj" fmla="val 15909"/>
            </a:avLst>
          </a:prstGeom>
          <a:solidFill>
            <a:srgbClr val="0C1320"/>
          </a:solidFill>
          <a:ln w="1397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3840479"/>
            <a:ext cx="10058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EDF5"/>
                </a:solidFill>
                <a:latin typeface="Microsoft YaHei"/>
                <a:ea typeface="Microsoft YaHei"/>
              </a:rPr>
              <a:t>数据与运行时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79"/>
            <a:ext cx="155448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SQLite/WAL · 索引 · 证据 · 沙箱模式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1352426"/>
            <a:ext cx="4617720" cy="3255264"/>
          </a:xfrm>
          <a:prstGeom prst="roundRect">
            <a:avLst>
              <a:gd name="adj" fmla="val 393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图 01 · 四层技术架构" title="图 01 · 四层技术架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1761991"/>
            <a:ext cx="4398264" cy="26939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86200" y="4791456"/>
            <a:ext cx="461772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图 01 · 四层技术架构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九个 Agent，完成分析—生成—校验—决策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Consolas"/>
                <a:ea typeface="Microsoft YaHei"/>
              </a:rPr>
              <a:t>06 · 多智能体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955279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EDF5"/>
                </a:solidFill>
                <a:latin typeface="Microsoft YaHei"/>
                <a:ea typeface="Microsoft YaHei"/>
              </a:rPr>
              <a:t>1 个交互中枢 + 3 个诊断/决策角色 + 5 个资源角色 = 1 + 3 + 5。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121408"/>
            <a:ext cx="2487168" cy="1920240"/>
          </a:xfrm>
          <a:prstGeom prst="roundRect">
            <a:avLst>
              <a:gd name="adj" fmla="val 4761"/>
            </a:avLst>
          </a:prstGeom>
          <a:solidFill>
            <a:srgbClr val="0C1320"/>
          </a:solidFill>
          <a:ln w="1397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04288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8BF0"/>
                </a:solidFill>
                <a:latin typeface="Microsoft YaHei"/>
                <a:ea typeface="Microsoft YaHei"/>
              </a:rPr>
              <a:t>诊断与决策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340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A98BF0"/>
          </a:solidFill>
          <a:ln w="508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697480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画像探针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044952"/>
            <a:ext cx="91440" cy="91440"/>
          </a:xfrm>
          <a:prstGeom prst="roundRect">
            <a:avLst>
              <a:gd name="adj" fmla="val 20000"/>
            </a:avLst>
          </a:prstGeom>
          <a:solidFill>
            <a:srgbClr val="A98BF0"/>
          </a:solidFill>
          <a:ln w="508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008376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路径规划师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355848"/>
            <a:ext cx="91440" cy="91440"/>
          </a:xfrm>
          <a:prstGeom prst="roundRect">
            <a:avLst>
              <a:gd name="adj" fmla="val 20000"/>
            </a:avLst>
          </a:prstGeom>
          <a:solidFill>
            <a:srgbClr val="A98BF0"/>
          </a:solidFill>
          <a:ln w="508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319272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教学路由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1931670"/>
            <a:ext cx="2487168" cy="2148840"/>
          </a:xfrm>
          <a:prstGeom prst="roundRect">
            <a:avLst>
              <a:gd name="adj" fmla="val 4255"/>
            </a:avLst>
          </a:prstGeom>
          <a:solidFill>
            <a:srgbClr val="0C1320"/>
          </a:solidFill>
          <a:ln w="1397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9584" y="222885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4F9CF5"/>
                </a:solidFill>
                <a:latin typeface="Microsoft YaHei"/>
                <a:ea typeface="Microsoft YaHei"/>
              </a:rPr>
              <a:t>资源生成</a:t>
            </a:r>
            <a:endParaRPr sz="1250" b="1" i="0" dirty="0">
              <a:solidFill>
                <a:srgbClr val="4F9CF5"/>
              </a:solidFill>
              <a:latin typeface="Microsoft YaHei"/>
              <a:ea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29584" y="2658618"/>
            <a:ext cx="91440" cy="91440"/>
          </a:xfrm>
          <a:prstGeom prst="roundRect">
            <a:avLst>
              <a:gd name="adj" fmla="val 20000"/>
            </a:avLst>
          </a:prstGeom>
          <a:solidFill>
            <a:srgbClr val="4F9CF5"/>
          </a:solidFill>
          <a:ln w="508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30752" y="2622042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理论教授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4" y="299923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F9CF5"/>
          </a:solidFill>
          <a:ln w="508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30752" y="2932938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逻辑画师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9584" y="331927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F9CF5"/>
          </a:solidFill>
          <a:ln w="508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30752" y="3243834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极客助教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9584" y="362788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F9CF5"/>
          </a:solidFill>
          <a:ln w="508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30752" y="3554730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考官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9584" y="3902202"/>
            <a:ext cx="91440" cy="91440"/>
          </a:xfrm>
          <a:prstGeom prst="roundRect">
            <a:avLst>
              <a:gd name="adj" fmla="val 20000"/>
            </a:avLst>
          </a:prstGeom>
          <a:solidFill>
            <a:srgbClr val="4F9CF5"/>
          </a:solidFill>
          <a:ln w="508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30752" y="3865626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虚拟导演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2121408"/>
            <a:ext cx="2487168" cy="1920240"/>
          </a:xfrm>
          <a:prstGeom prst="roundRect">
            <a:avLst>
              <a:gd name="adj" fmla="val 4761"/>
            </a:avLst>
          </a:prstGeom>
          <a:solidFill>
            <a:srgbClr val="0C1320"/>
          </a:solidFill>
          <a:ln w="1397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59" y="2304288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A33C"/>
                </a:solidFill>
                <a:latin typeface="Microsoft YaHei"/>
                <a:ea typeface="Microsoft YaHei"/>
              </a:rPr>
              <a:t>验证与反馈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27340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33C"/>
          </a:solidFill>
          <a:ln w="508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2697480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量化评估师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044952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33C"/>
          </a:solidFill>
          <a:ln w="508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10528" y="3008376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证据清洗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335584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33C"/>
          </a:solidFill>
          <a:ln w="508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0528" y="3319272"/>
            <a:ext cx="190195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跨模态对齐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" y="4315968"/>
            <a:ext cx="8001000" cy="420624"/>
          </a:xfrm>
          <a:prstGeom prst="roundRect">
            <a:avLst>
              <a:gd name="adj" fmla="val 17391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统一契约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4315968"/>
            <a:ext cx="686714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每个输出保留 Agent、资源类型、引用、状态、对齐结果和画像元数据。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4882896"/>
            <a:ext cx="76809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agent_swarm.py · 系统设计与实现方案 §5 · 图 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Agent 的协作过程被前端展示，而不是藏在黑盒中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07 · 协作可见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863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一次请求的过程被拆成可观察事件：每个角色有状态、耗时和结果。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084831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59151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意图分析与画像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4056" y="2240279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72384" y="2084831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139696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诊断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359151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调取学情画像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743200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798064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17520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多模态检索证据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734056" y="2898648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072384" y="2743200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18688" y="2798064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辩论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017520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证据清洗与置信度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3401568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456432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75887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讲义 / 导图 / 代码 / 题目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734056" y="3557015"/>
            <a:ext cx="22860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72384" y="3401568"/>
            <a:ext cx="2084831" cy="512064"/>
          </a:xfrm>
          <a:prstGeom prst="roundRect">
            <a:avLst>
              <a:gd name="adj" fmla="val 14285"/>
            </a:avLst>
          </a:prstGeom>
          <a:solidFill>
            <a:srgbClr val="0C1320"/>
          </a:solidFill>
          <a:ln w="1524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18688" y="3456432"/>
            <a:ext cx="179222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675887"/>
            <a:ext cx="1792223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流形一致性校验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04688" y="2029968"/>
            <a:ext cx="2999232" cy="2267712"/>
          </a:xfrm>
          <a:prstGeom prst="roundRect">
            <a:avLst>
              <a:gd name="adj" fmla="val 5645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前端实测画面见第 14 页" title="前端实测画面见第 14 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85924"/>
            <a:ext cx="2816351" cy="1955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04688" y="4407408"/>
            <a:ext cx="2999232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前端实测画面见第 14 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4773168"/>
            <a:ext cx="47091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evaluator_screenshots/04-chat-response.png · SSE Agent Timeline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画像会改变知识路径，而不只是改变回答口吻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8BF0"/>
                </a:solidFill>
                <a:latin typeface="Consolas"/>
                <a:ea typeface="Microsoft YaHei"/>
              </a:rPr>
              <a:t>08 · 学情算法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28803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EDF5"/>
                </a:solidFill>
                <a:latin typeface="Microsoft YaHei"/>
                <a:ea typeface="Microsoft YaHei"/>
              </a:rPr>
              <a:t>从“我是谁”到“下一步学什么”。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3110"/>
            <a:ext cx="2852928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C2CBD9"/>
                </a:solidFill>
                <a:latin typeface="Microsoft YaHei"/>
                <a:ea typeface="Microsoft YaHei"/>
              </a:rPr>
              <a:t>系统把掌握度、前置关系、目标概念和认知负荷组合成路径候选，再按</a:t>
            </a:r>
            <a:r>
              <a:rPr sz="1250" b="0" i="0" dirty="0">
                <a:solidFill>
                  <a:srgbClr val="C2CBD9"/>
                </a:solidFill>
                <a:latin typeface="Microsoft YaHei"/>
                <a:ea typeface="Microsoft YaHei"/>
              </a:rPr>
              <a:t> ZPD </a:t>
            </a:r>
            <a:r>
              <a:rPr sz="1250" b="0" i="0" dirty="0" err="1">
                <a:solidFill>
                  <a:srgbClr val="C2CBD9"/>
                </a:solidFill>
                <a:latin typeface="Microsoft YaHei"/>
                <a:ea typeface="Microsoft YaHei"/>
              </a:rPr>
              <a:t>与反馈排序</a:t>
            </a:r>
            <a:r>
              <a:rPr sz="1250" b="0" i="0" dirty="0">
                <a:solidFill>
                  <a:srgbClr val="C2CBD9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670048"/>
            <a:ext cx="2907792" cy="475488"/>
          </a:xfrm>
          <a:prstGeom prst="roundRect">
            <a:avLst>
              <a:gd name="adj" fmla="val 15384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4944" y="2788920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743200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BKT / Kalman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2962656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更新知识状态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" y="3145536"/>
            <a:ext cx="2907792" cy="475488"/>
          </a:xfrm>
          <a:prstGeom prst="roundRect">
            <a:avLst>
              <a:gd name="adj" fmla="val 15384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4944" y="3264408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218688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MIRT / IRT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3438144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估计能力与题目参数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3621024"/>
            <a:ext cx="2907792" cy="475488"/>
          </a:xfrm>
          <a:prstGeom prst="roundRect">
            <a:avLst>
              <a:gd name="adj" fmla="val 15384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944" y="3739896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694176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ZPD / 图谱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3913632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筛选前置闭包与学习顺序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4096512"/>
            <a:ext cx="2907792" cy="475488"/>
          </a:xfrm>
          <a:prstGeom prst="roundRect">
            <a:avLst>
              <a:gd name="adj" fmla="val 15384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94944" y="4215384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4169664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SM-2 / 反馈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4389120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进入错题与间隔复习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22191" y="1239012"/>
            <a:ext cx="4718304" cy="3054096"/>
          </a:xfrm>
          <a:prstGeom prst="roundRect">
            <a:avLst>
              <a:gd name="adj" fmla="val 4191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前端实测：路径节点、目标掌握度、预计时长与推荐依据" title="前端实测：路径节点、目标掌握度、预计时长与推荐依据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03" y="1348740"/>
            <a:ext cx="4081881" cy="283463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822191" y="4486257"/>
            <a:ext cx="4718304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前端实测：路径节点、目标掌握度、预计时长与推荐依据</a:t>
            </a:r>
            <a:endParaRPr sz="950" b="0" i="0" dirty="0">
              <a:solidFill>
                <a:srgbClr val="8A96AC"/>
              </a:solidFill>
              <a:latin typeface="Microsoft YaHei"/>
              <a:ea typeface="Microsoft YaHe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4736592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EduMatrix 完整技术文档 §6 · learning-path E2E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混合 RAG 把课程、私有文档和多模态证据分开处理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09 · 混合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285292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8EDF5"/>
                </a:solidFill>
                <a:latin typeface="Microsoft YaHei"/>
                <a:ea typeface="Microsoft YaHei"/>
              </a:rPr>
              <a:t>先回答“证据来自哪里”，再回答“内容怎么生成”。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103120"/>
            <a:ext cx="274320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57984"/>
            <a:ext cx="2450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公共课程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39"/>
            <a:ext cx="2450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visibility = public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856231" y="2587752"/>
            <a:ext cx="201168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5216" y="2706624"/>
            <a:ext cx="274320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524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761488"/>
            <a:ext cx="2450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私有文档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80944"/>
            <a:ext cx="2450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owner = current_user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856231" y="3191256"/>
            <a:ext cx="201168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5216" y="3310128"/>
            <a:ext cx="274320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524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245059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视觉证据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84448"/>
            <a:ext cx="245059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图片 / 公式 / 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133087"/>
            <a:ext cx="2743200" cy="420624"/>
          </a:xfrm>
          <a:prstGeom prst="roundRect">
            <a:avLst>
              <a:gd name="adj" fmla="val 17391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7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33087"/>
            <a:ext cx="160934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dirty="0" err="1">
                <a:solidFill>
                  <a:srgbClr val="0C1320"/>
                </a:solidFill>
                <a:latin typeface="Microsoft YaHei"/>
                <a:ea typeface="Microsoft YaHei"/>
              </a:rPr>
              <a:t>引用</a:t>
            </a:r>
            <a:r>
              <a:rPr sz="1150" b="0" i="0" dirty="0">
                <a:solidFill>
                  <a:srgbClr val="0C1320"/>
                </a:solidFill>
                <a:latin typeface="Microsoft YaHei"/>
                <a:ea typeface="Microsoft YaHei"/>
              </a:rPr>
              <a:t> ID · </a:t>
            </a:r>
            <a:r>
              <a:rPr sz="1150" b="0" i="0" dirty="0" err="1">
                <a:solidFill>
                  <a:srgbClr val="0C1320"/>
                </a:solidFill>
                <a:latin typeface="Microsoft YaHei"/>
                <a:ea typeface="Microsoft YaHei"/>
              </a:rPr>
              <a:t>来源</a:t>
            </a:r>
            <a:r>
              <a:rPr sz="1150" b="0" i="0" dirty="0">
                <a:solidFill>
                  <a:srgbClr val="0C1320"/>
                </a:solidFill>
                <a:latin typeface="Microsoft YaHei"/>
                <a:ea typeface="Microsoft YaHei"/>
              </a:rPr>
              <a:t> · </a:t>
            </a:r>
            <a:r>
              <a:rPr sz="1150" b="0" i="0" dirty="0" err="1">
                <a:solidFill>
                  <a:srgbClr val="0C1320"/>
                </a:solidFill>
                <a:latin typeface="Microsoft YaHei"/>
                <a:ea typeface="Microsoft YaHei"/>
              </a:rPr>
              <a:t>分数</a:t>
            </a:r>
            <a:r>
              <a:rPr sz="1150" b="0" i="0" dirty="0">
                <a:solidFill>
                  <a:srgbClr val="0C1320"/>
                </a:solidFill>
                <a:latin typeface="Microsoft YaHei"/>
                <a:ea typeface="Microsoft YaHei"/>
              </a:rPr>
              <a:t> · </a:t>
            </a:r>
            <a:r>
              <a:rPr sz="1150" b="0" i="0" dirty="0" err="1">
                <a:solidFill>
                  <a:srgbClr val="0C1320"/>
                </a:solidFill>
                <a:latin typeface="Microsoft YaHei"/>
                <a:ea typeface="Microsoft YaHei"/>
              </a:rPr>
              <a:t>置信度</a:t>
            </a:r>
            <a:endParaRPr sz="1150" b="0" i="0" dirty="0">
              <a:solidFill>
                <a:srgbClr val="0C1320"/>
              </a:solidFill>
              <a:latin typeface="Microsoft YaHei"/>
              <a:ea typeface="Microsoft YaHe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49039" y="1481328"/>
            <a:ext cx="4754880" cy="3182112"/>
          </a:xfrm>
          <a:prstGeom prst="roundRect">
            <a:avLst>
              <a:gd name="adj" fmla="val 402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图 04 · owner / visibility 过滤与证据链" title="图 04 · owner / visibility 过滤与证据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1683410"/>
            <a:ext cx="4535424" cy="27779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4754880"/>
            <a:ext cx="47548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图 04 · owner / visibility 过滤与证据链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244" y="4576572"/>
            <a:ext cx="4096895" cy="17594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证据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rag_engine.py · knowledge_api.py · tests/test_security_contracts.py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一次知识需求，可以生成五种可复用学习资源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A33C"/>
                </a:solidFill>
                <a:latin typeface="Consolas"/>
                <a:ea typeface="Microsoft YaHei"/>
              </a:rPr>
              <a:t>10 · 资源工厂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863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资源不是单一长文本，而是由不同角色并发生产、统一返回的资源包。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76272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231136"/>
            <a:ext cx="126187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学习问题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0591"/>
            <a:ext cx="1261872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6AC"/>
                </a:solidFill>
                <a:latin typeface="Microsoft YaHei"/>
                <a:ea typeface="Microsoft YaHei"/>
              </a:rPr>
              <a:t>同一目标概念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95728" y="2432304"/>
            <a:ext cx="36576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99232" y="1847088"/>
            <a:ext cx="1901952" cy="1389888"/>
          </a:xfrm>
          <a:prstGeom prst="roundRect">
            <a:avLst>
              <a:gd name="adj" fmla="val 7894"/>
            </a:avLst>
          </a:prstGeom>
          <a:solidFill>
            <a:srgbClr val="0C1320"/>
          </a:solidFill>
          <a:ln w="1524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2057400"/>
            <a:ext cx="1554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C2A6"/>
                </a:solidFill>
                <a:latin typeface="Microsoft YaHei"/>
                <a:ea typeface="Microsoft YaHei"/>
              </a:rPr>
              <a:t>资源工厂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487168"/>
            <a:ext cx="1508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2CBD9"/>
                </a:solidFill>
                <a:latin typeface="Consolas"/>
                <a:ea typeface="Microsoft YaHei"/>
              </a:rPr>
              <a:t>async gather
局部失败可降级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2432304"/>
            <a:ext cx="365760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87568" y="1554480"/>
            <a:ext cx="2148840" cy="384048"/>
          </a:xfrm>
          <a:prstGeom prst="roundRect">
            <a:avLst>
              <a:gd name="adj" fmla="val 19047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1572768"/>
            <a:ext cx="2148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专业讲义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87568" y="2066543"/>
            <a:ext cx="2148840" cy="384048"/>
          </a:xfrm>
          <a:prstGeom prst="roundRect">
            <a:avLst>
              <a:gd name="adj" fmla="val 19047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87568" y="2084831"/>
            <a:ext cx="2148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思维导图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87568" y="2578608"/>
            <a:ext cx="2148840" cy="384048"/>
          </a:xfrm>
          <a:prstGeom prst="roundRect">
            <a:avLst>
              <a:gd name="adj" fmla="val 19047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87568" y="2596896"/>
            <a:ext cx="2148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代码案例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87568" y="3090672"/>
            <a:ext cx="2148840" cy="384048"/>
          </a:xfrm>
          <a:prstGeom prst="roundRect">
            <a:avLst>
              <a:gd name="adj" fmla="val 19047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87568" y="3108960"/>
            <a:ext cx="2148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练习题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7568" y="3602736"/>
            <a:ext cx="2148840" cy="384048"/>
          </a:xfrm>
          <a:prstGeom prst="roundRect">
            <a:avLst>
              <a:gd name="adj" fmla="val 19047"/>
            </a:avLst>
          </a:prstGeom>
          <a:solidFill>
            <a:srgbClr val="E0556E"/>
          </a:solidFill>
          <a:ln w="635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87568" y="3621024"/>
            <a:ext cx="2148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1320"/>
                </a:solidFill>
                <a:latin typeface="Microsoft YaHei"/>
                <a:ea typeface="Microsoft YaHei"/>
              </a:rPr>
              <a:t>视频/TTS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" y="4059936"/>
            <a:ext cx="7150608" cy="475488"/>
          </a:xfrm>
          <a:prstGeom prst="roundRect">
            <a:avLst>
              <a:gd name="adj" fmla="val 15384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059936"/>
            <a:ext cx="8412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结构性实测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2496" y="4059936"/>
            <a:ext cx="6016752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同题三组合成画像均观察到 5 类资源输出；这是代码实测，不是学习效果实验。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771708"/>
            <a:ext cx="73152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证据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outputs/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innovation_evidence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/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innovation_benchmark.json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资源类型覆盖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5/5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跨模态一致性校验，避免不同资源互相矛盾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556E"/>
                </a:solidFill>
                <a:latin typeface="Consolas"/>
                <a:ea typeface="Microsoft YaHei"/>
              </a:rPr>
              <a:t>11 · 一致性校验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818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生成完成后，系统不只看“有没有输出”，还检查引用、变量、公式和结论是否一致。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1874519" cy="438912"/>
          </a:xfrm>
          <a:prstGeom prst="roundRect">
            <a:avLst>
              <a:gd name="adj" fmla="val 12500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1874519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1320"/>
                </a:solidFill>
                <a:latin typeface="Microsoft YaHei"/>
                <a:ea typeface="Microsoft YaHei"/>
              </a:rPr>
              <a:t>检查对象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2148840"/>
            <a:ext cx="2331720" cy="438912"/>
          </a:xfrm>
          <a:prstGeom prst="roundRect">
            <a:avLst>
              <a:gd name="adj" fmla="val 12500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39" y="2157984"/>
            <a:ext cx="23317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1320"/>
                </a:solidFill>
                <a:latin typeface="Microsoft YaHei"/>
                <a:ea typeface="Microsoft YaHei"/>
              </a:rPr>
              <a:t>保存字段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2148840"/>
            <a:ext cx="2880360" cy="438912"/>
          </a:xfrm>
          <a:prstGeom prst="roundRect">
            <a:avLst>
              <a:gd name="adj" fmla="val 12500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10912" y="2157984"/>
            <a:ext cx="28803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1320"/>
                </a:solidFill>
                <a:latin typeface="Microsoft YaHei"/>
                <a:ea typeface="Microsoft YaHei"/>
              </a:rPr>
              <a:t>发现冲突后的动作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79192"/>
            <a:ext cx="1874519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697480"/>
            <a:ext cx="16916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引用与来源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39" y="2679192"/>
            <a:ext cx="233172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79" y="2697480"/>
            <a:ext cx="21488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citations /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2679192"/>
            <a:ext cx="288036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02351" y="2697480"/>
            <a:ext cx="269747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保留证据链，降低置信度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108960"/>
            <a:ext cx="1874519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127248"/>
            <a:ext cx="16916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公式与变量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39" y="3108960"/>
            <a:ext cx="233172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79" y="3127248"/>
            <a:ext cx="21488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alignment.score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10912" y="3108960"/>
            <a:ext cx="288036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02351" y="3127248"/>
            <a:ext cx="269747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定位责任 Agent，局部重生成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538728"/>
            <a:ext cx="1874519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3557016"/>
            <a:ext cx="16916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讲义与题目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39" y="3538728"/>
            <a:ext cx="233172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7479" y="3557016"/>
            <a:ext cx="21488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conflicts[]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10912" y="3538728"/>
            <a:ext cx="288036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02351" y="3557016"/>
            <a:ext cx="269747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标记冲突，不静默覆盖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3968496"/>
            <a:ext cx="1874519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" y="3986783"/>
            <a:ext cx="16916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资源状态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06039" y="3968496"/>
            <a:ext cx="233172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79" y="3986783"/>
            <a:ext cx="214883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generated / fallback / failed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10912" y="3968496"/>
            <a:ext cx="2880360" cy="329184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762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02351" y="3986783"/>
            <a:ext cx="269747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让降级结果可识别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329128"/>
            <a:ext cx="7571232" cy="389175"/>
          </a:xfrm>
          <a:prstGeom prst="roundRect">
            <a:avLst>
              <a:gd name="adj" fmla="val 18181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4315968"/>
            <a:ext cx="84124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4401175"/>
            <a:ext cx="6641129" cy="23506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代码中有校验路径，不等于真实外部模型质量已经完成统计验证。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882896"/>
            <a:ext cx="7498079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manifold_alignment.py · agent_swarm.py · 系统设计与实现方案 §4.8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学习事件进入持久化链，下一次路径会重新规划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A33C"/>
                </a:solidFill>
                <a:latin typeface="Consolas"/>
                <a:ea typeface="Microsoft YaHei"/>
              </a:rPr>
              <a:t>12 · 数据反馈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481328"/>
            <a:ext cx="4754880" cy="3182112"/>
          </a:xfrm>
          <a:prstGeom prst="roundRect">
            <a:avLst>
              <a:gd name="adj" fmla="val 402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图 05 · 身份 → 画像 → 学习事件 → 资源证据 → 反馈计划" title="图 05 · 身份 → 画像 → 学习事件 → 资源证据 → 反馈计划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683410"/>
            <a:ext cx="4535424" cy="27779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94760" y="4754880"/>
            <a:ext cx="47548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图 05 · 身份 → 画像 → 学习事件 → 资源证据 → 反馈计划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609344"/>
            <a:ext cx="278892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4944" y="1647911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1667013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9576" y="1621293"/>
            <a:ext cx="207568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1840749"/>
            <a:ext cx="2075687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用户 / JWT / 角色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2212848"/>
            <a:ext cx="278892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2251415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2270517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6" y="2224797"/>
            <a:ext cx="207568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2444253"/>
            <a:ext cx="2075687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专业 / 目标 / 掌握度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2816352"/>
            <a:ext cx="278892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944" y="2854919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" y="2874021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2828301"/>
            <a:ext cx="207568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事件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9576" y="3047757"/>
            <a:ext cx="2075687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对话 / 答题 / 代码 / 行为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419856"/>
            <a:ext cx="2788920" cy="438912"/>
          </a:xfrm>
          <a:prstGeom prst="roundRect">
            <a:avLst>
              <a:gd name="adj" fmla="val 16666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" y="3458423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3443008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0C1320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3431805"/>
            <a:ext cx="207568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9576" y="3651261"/>
            <a:ext cx="2075687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路径 / 错题 / 间隔复习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" y="4041648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041648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持久化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4041648"/>
            <a:ext cx="1655063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SQLite / WAL 适合当前单机评委验收。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4576572"/>
            <a:ext cx="30175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learning_event_bus.py · SQLite/WAL · flashcard_api.py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一个真实请求，同时留下四类证据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Consolas"/>
                <a:ea typeface="Microsoft YaHei"/>
              </a:rPr>
              <a:t>13 · 核心证据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81635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EDF5"/>
                </a:solidFill>
                <a:latin typeface="Microsoft YaHei"/>
                <a:ea typeface="Microsoft YaHei"/>
              </a:rPr>
              <a:t>前端不是结果截图，而是决策链的观察面。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2816352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2CBD9"/>
                </a:solidFill>
                <a:latin typeface="Microsoft YaHei"/>
                <a:ea typeface="Microsoft YaHei"/>
              </a:rPr>
              <a:t>同一请求中，评委可以同时看到 Agent Timeline、能力雷达、知识图谱和解释性证据。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227832"/>
            <a:ext cx="3108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F9CF5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27832"/>
            <a:ext cx="7680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协同状态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227832"/>
            <a:ext cx="14996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Agent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502151"/>
            <a:ext cx="3108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502151"/>
            <a:ext cx="7680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学习状态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502151"/>
            <a:ext cx="14996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能力雷达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3776472"/>
            <a:ext cx="3108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8BF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776472"/>
            <a:ext cx="7680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知识关系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776472"/>
            <a:ext cx="14996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Poincaré 图谱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4050791"/>
            <a:ext cx="3108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A33C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50791"/>
            <a:ext cx="76809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EDF5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50791"/>
            <a:ext cx="14996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反馈与路径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261104"/>
            <a:ext cx="2816352" cy="420624"/>
          </a:xfrm>
          <a:prstGeom prst="roundRect">
            <a:avLst>
              <a:gd name="adj" fmla="val 17391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261104"/>
            <a:ext cx="841248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61104"/>
            <a:ext cx="1682496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协同可见，依据可查。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1481328"/>
            <a:ext cx="4773168" cy="3218688"/>
          </a:xfrm>
          <a:prstGeom prst="roundRect">
            <a:avLst>
              <a:gd name="adj" fmla="val 3977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当前前端实测 · Agent Timeline + 能力雷达 + 知识图谱" title="当前前端实测 · Agent Timeline + 能力雷达 + 知识图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842" y="1572768"/>
            <a:ext cx="4371563" cy="30358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749039" y="4800600"/>
            <a:ext cx="4773168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当前前端实测 · Agent Timeline + 能力雷达 + 知识图谱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846320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evaluator_screenshots/04-chat-response.png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预置课程已经成为可检索、可追溯的知识库资产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14 · 课程输入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283464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EDF5"/>
                </a:solidFill>
                <a:latin typeface="Microsoft YaHei"/>
                <a:ea typeface="Microsoft YaHei"/>
              </a:rPr>
              <a:t>知识库不是装饰页，而是系统生成链的输入端。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487168"/>
            <a:ext cx="896112" cy="1115568"/>
          </a:xfrm>
          <a:prstGeom prst="roundRect">
            <a:avLst>
              <a:gd name="adj" fmla="val 8163"/>
            </a:avLst>
          </a:prstGeom>
          <a:solidFill>
            <a:srgbClr val="0C1320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" y="2624328"/>
            <a:ext cx="8961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F9CF5"/>
                </a:solidFill>
                <a:latin typeface="Consolas"/>
                <a:ea typeface="Microsoft YaHe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054096"/>
            <a:ext cx="7132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2CBD9"/>
                </a:solidFill>
                <a:latin typeface="Microsoft YaHei"/>
                <a:ea typeface="Microsoft YaHei"/>
              </a:rPr>
              <a:t>公共课程文档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2487168"/>
            <a:ext cx="896112" cy="1115568"/>
          </a:xfrm>
          <a:prstGeom prst="roundRect">
            <a:avLst>
              <a:gd name="adj" fmla="val 8163"/>
            </a:avLst>
          </a:prstGeom>
          <a:solidFill>
            <a:srgbClr val="0C1320"/>
          </a:solidFill>
          <a:ln w="1270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72768" y="2624328"/>
            <a:ext cx="8961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C2A6"/>
                </a:solidFill>
                <a:latin typeface="Consolas"/>
                <a:ea typeface="Microsoft YaHe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054096"/>
            <a:ext cx="7132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2CBD9"/>
                </a:solidFill>
                <a:latin typeface="Microsoft YaHei"/>
                <a:ea typeface="Microsoft YaHei"/>
              </a:rPr>
              <a:t>文本分块数量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2487168"/>
            <a:ext cx="896112" cy="1115568"/>
          </a:xfrm>
          <a:prstGeom prst="roundRect">
            <a:avLst>
              <a:gd name="adj" fmla="val 8163"/>
            </a:avLst>
          </a:prstGeom>
          <a:solidFill>
            <a:srgbClr val="0C1320"/>
          </a:solidFill>
          <a:ln w="1270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2624328"/>
            <a:ext cx="89611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98BF0"/>
                </a:solidFill>
                <a:latin typeface="Consolas"/>
                <a:ea typeface="Microsoft YaHei"/>
              </a:rPr>
              <a:t>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054096"/>
            <a:ext cx="7132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C2CBD9"/>
                </a:solidFill>
                <a:latin typeface="Microsoft YaHei"/>
                <a:ea typeface="Microsoft YaHei"/>
              </a:rPr>
              <a:t>学生可见范围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" y="3858768"/>
            <a:ext cx="2743200" cy="475488"/>
          </a:xfrm>
          <a:prstGeom prst="roundRect">
            <a:avLst>
              <a:gd name="adj" fmla="val 15384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8412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58768"/>
            <a:ext cx="1609344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原始素材与课程切片属于不同层级。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7328" y="1481328"/>
            <a:ext cx="4754880" cy="3182112"/>
          </a:xfrm>
          <a:prstGeom prst="roundRect">
            <a:avLst>
              <a:gd name="adj" fmla="val 402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前端实测 · 公共课程文档、分块和知识点标签" title="前端实测 · 公共课程文档、分块和知识点标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320" y="1572768"/>
            <a:ext cx="4318894" cy="29992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767328" y="4754880"/>
            <a:ext cx="47548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前端实测 · 公共课程文档、分块和知识点标签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694" y="4782527"/>
            <a:ext cx="5274604" cy="17594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证据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knowledge_api.py · 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数据库快照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 · outputs/</a:t>
            </a:r>
            <a:r>
              <a:rPr sz="78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evaluator_screenshots</a:t>
            </a:r>
            <a:r>
              <a:rPr sz="780" b="0" i="0" dirty="0">
                <a:solidFill>
                  <a:srgbClr val="8A96AC"/>
                </a:solidFill>
                <a:latin typeface="Microsoft YaHei"/>
                <a:ea typeface="Microsoft YaHei"/>
              </a:rPr>
              <a:t>/07-knowledge.png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多模态模型是可插拔能力，默认模式仍能完成核心验收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8BF0"/>
                </a:solidFill>
                <a:latin typeface="Consolas"/>
                <a:ea typeface="Microsoft YaHei"/>
              </a:rPr>
              <a:t>15 · 多模态能力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29260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EDF5"/>
                </a:solidFill>
                <a:latin typeface="Microsoft YaHei"/>
                <a:ea typeface="Microsoft YaHei"/>
              </a:rPr>
              <a:t>视觉模型、Endpoint 和 Model 都是显式配置，而不是隐藏依赖。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388870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4944" y="2450591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1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2404872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文本模型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2624327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Endpoint · Model · API 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992374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4944" y="3054096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9576" y="3008376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视觉模型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576" y="3227832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图片 / 公式 / VisRAG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359587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0C1320"/>
          </a:solidFill>
          <a:ln w="10160">
            <a:solidFill>
              <a:srgbClr val="526E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94944" y="3657600"/>
            <a:ext cx="347472" cy="347472"/>
          </a:xfrm>
          <a:prstGeom prst="roundRect">
            <a:avLst>
              <a:gd name="adj" fmla="val 21052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3611880"/>
            <a:ext cx="2194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确定性引擎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831336"/>
            <a:ext cx="2194560" cy="13716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无外部 Key 的核心演示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4114800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8412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真实边界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114800"/>
            <a:ext cx="177393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没有视觉 API Key 时，不宣称真实视觉识别。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03904" y="1481328"/>
            <a:ext cx="4718304" cy="3182112"/>
          </a:xfrm>
          <a:prstGeom prst="roundRect">
            <a:avLst>
              <a:gd name="adj" fmla="val 402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前端实测 · 多模态视觉模型设置页" title="前端实测 · 多模态视觉模型设置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608" y="1572768"/>
            <a:ext cx="4318894" cy="29992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803904" y="4754880"/>
            <a:ext cx="4718304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前端实测 · 多模态视觉模型设置页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4773168"/>
            <a:ext cx="38404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Settings.vue · 评委环境安装与复现备忘录 §4.1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代码执行能力与隔离级别被明确拆开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556E"/>
                </a:solidFill>
                <a:latin typeface="Consolas"/>
                <a:ea typeface="Microsoft YaHei"/>
              </a:rPr>
              <a:t>16 · 运行边界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863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核心学习闭环不依赖 Docker；代码执行属于可选增强，三种模式各自有清晰边界。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103120"/>
            <a:ext cx="2331720" cy="1627632"/>
          </a:xfrm>
          <a:prstGeom prst="roundRect">
            <a:avLst>
              <a:gd name="adj" fmla="val 5617"/>
            </a:avLst>
          </a:prstGeom>
          <a:solidFill>
            <a:srgbClr val="0C1320"/>
          </a:solidFill>
          <a:ln w="1524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04288"/>
            <a:ext cx="19659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3C2A6"/>
                </a:solidFill>
                <a:latin typeface="Consolas"/>
                <a:ea typeface="Microsoft YaHei"/>
              </a:rPr>
              <a:t>disabled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60904"/>
            <a:ext cx="19659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默认评委模式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80944"/>
            <a:ext cx="19659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CBD9"/>
                </a:solidFill>
                <a:latin typeface="Microsoft YaHei"/>
                <a:ea typeface="Microsoft YaHei"/>
              </a:rPr>
              <a:t>不执行代码
核心学习功能正常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103120"/>
            <a:ext cx="2331720" cy="1627632"/>
          </a:xfrm>
          <a:prstGeom prst="roundRect">
            <a:avLst>
              <a:gd name="adj" fmla="val 5617"/>
            </a:avLst>
          </a:prstGeom>
          <a:solidFill>
            <a:srgbClr val="0C1320"/>
          </a:solidFill>
          <a:ln w="1524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10712" y="2304288"/>
            <a:ext cx="19659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A33C"/>
                </a:solidFill>
                <a:latin typeface="Consolas"/>
                <a:ea typeface="Microsoft YaHei"/>
              </a:rPr>
              <a:t>trusted_local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660904"/>
            <a:ext cx="19659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可信本机演示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980944"/>
            <a:ext cx="19659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CBD9"/>
                </a:solidFill>
                <a:latin typeface="Microsoft YaHei"/>
                <a:ea typeface="Microsoft YaHei"/>
              </a:rPr>
              <a:t>受限子进程
无容器隔离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07024" y="2103120"/>
            <a:ext cx="2331720" cy="1627632"/>
          </a:xfrm>
          <a:prstGeom prst="roundRect">
            <a:avLst>
              <a:gd name="adj" fmla="val 5617"/>
            </a:avLst>
          </a:prstGeom>
          <a:solidFill>
            <a:srgbClr val="0C1320"/>
          </a:solidFill>
          <a:ln w="1524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71616" y="2304288"/>
            <a:ext cx="19659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F9CF5"/>
                </a:solidFill>
                <a:latin typeface="Consolas"/>
                <a:ea typeface="Microsoft YaHei"/>
              </a:rPr>
              <a:t>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2660904"/>
            <a:ext cx="19659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容器增强路径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980944"/>
            <a:ext cx="196596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2CBD9"/>
                </a:solidFill>
                <a:latin typeface="Microsoft YaHei"/>
                <a:ea typeface="Microsoft YaHei"/>
              </a:rPr>
              <a:t>容器级隔离
依赖 Docker daemon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3986784"/>
            <a:ext cx="3611880" cy="658368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rusted_local 实测输出 42" title="trusted_local 实测输出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131" y="3986784"/>
            <a:ext cx="948049" cy="6583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5216" y="4709160"/>
            <a:ext cx="36118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6AC"/>
                </a:solidFill>
                <a:latin typeface="Microsoft YaHei"/>
                <a:ea typeface="Microsoft YaHei"/>
              </a:rPr>
              <a:t>trusted_local 实测输出 42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986784"/>
            <a:ext cx="3611880" cy="658368"/>
          </a:xfrm>
          <a:prstGeom prst="roundRect">
            <a:avLst>
              <a:gd name="adj" fmla="val 19444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图 06 · 模式边界与风险口径" title="图 06 · 模式边界与风险口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904" y="3986784"/>
            <a:ext cx="1074886" cy="6583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07408" y="4776495"/>
            <a:ext cx="3611880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A96AC"/>
                </a:solidFill>
                <a:latin typeface="Microsoft YaHei"/>
                <a:ea typeface="Microsoft YaHei"/>
              </a:rPr>
              <a:t>图 06 · </a:t>
            </a:r>
            <a:r>
              <a:rPr sz="950" b="0" i="0" dirty="0" err="1">
                <a:solidFill>
                  <a:srgbClr val="8A96AC"/>
                </a:solidFill>
                <a:latin typeface="Microsoft YaHei"/>
                <a:ea typeface="Microsoft YaHei"/>
              </a:rPr>
              <a:t>模式边界与风险口径</a:t>
            </a:r>
            <a:endParaRPr sz="950" b="0" i="0" dirty="0">
              <a:solidFill>
                <a:srgbClr val="8A96AC"/>
              </a:solidFill>
              <a:latin typeface="Microsoft YaHei"/>
              <a:ea typeface="Microsoft Ya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5216" y="4882896"/>
            <a:ext cx="7498079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code_exec_api.py · trusted_local_smoke.json · /api/code/status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75438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8EDF5"/>
                </a:solidFill>
                <a:latin typeface="Microsoft YaHei"/>
                <a:ea typeface="Microsoft YaHei"/>
              </a:rPr>
              <a:t>四项评分，分别由哪类证据来证明？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A33C"/>
                </a:solidFill>
                <a:latin typeface="Consolas"/>
                <a:ea typeface="Microsoft YaHei"/>
              </a:rPr>
              <a:t>17 · 评分映射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772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新 PPT 直接回应官方 A3 页面，不引入其他赛事的量化门槛。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987552" cy="457200"/>
          </a:xfrm>
          <a:prstGeom prst="roundRect">
            <a:avLst>
              <a:gd name="adj" fmla="val 16000"/>
            </a:avLst>
          </a:prstGeom>
          <a:solidFill>
            <a:srgbClr val="33C2A6"/>
          </a:solidFill>
          <a:ln w="635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002536"/>
            <a:ext cx="9875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1320"/>
                </a:solidFill>
                <a:latin typeface="Consolas"/>
                <a:ea typeface="Microsoft YaHe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993391"/>
            <a:ext cx="21579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创新价值与实用性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1993391"/>
            <a:ext cx="3822191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多 Agent · 个性化资源 · RAG · 反馈闭环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42032"/>
            <a:ext cx="987552" cy="457200"/>
          </a:xfrm>
          <a:prstGeom prst="roundRect">
            <a:avLst>
              <a:gd name="adj" fmla="val 16000"/>
            </a:avLst>
          </a:prstGeom>
          <a:solidFill>
            <a:srgbClr val="4F9CF5"/>
          </a:solidFill>
          <a:ln w="635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578608"/>
            <a:ext cx="9875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1320"/>
                </a:solidFill>
                <a:latin typeface="Consolas"/>
                <a:ea typeface="Microsoft YaHei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569463"/>
            <a:ext cx="21579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功能实现及技术要求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569463"/>
            <a:ext cx="3822191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源码 · 页面 · API · E2E · 运行状态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18104"/>
            <a:ext cx="987552" cy="457200"/>
          </a:xfrm>
          <a:prstGeom prst="roundRect">
            <a:avLst>
              <a:gd name="adj" fmla="val 16000"/>
            </a:avLst>
          </a:prstGeom>
          <a:solidFill>
            <a:srgbClr val="A98BF0"/>
          </a:solidFill>
          <a:ln w="635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154680"/>
            <a:ext cx="9875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1320"/>
                </a:solidFill>
                <a:latin typeface="Consolas"/>
                <a:ea typeface="Microsoft YaHe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145536"/>
            <a:ext cx="21579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配套文档真实度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3145536"/>
            <a:ext cx="3822191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事实边界 · 测试命令 · 部署说明 · 追踪矩阵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94176"/>
            <a:ext cx="987552" cy="457200"/>
          </a:xfrm>
          <a:prstGeom prst="roundRect">
            <a:avLst>
              <a:gd name="adj" fmla="val 16000"/>
            </a:avLst>
          </a:prstGeom>
          <a:solidFill>
            <a:srgbClr val="F2A33C"/>
          </a:solidFill>
          <a:ln w="635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730752"/>
            <a:ext cx="9875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1320"/>
                </a:solidFill>
                <a:latin typeface="Consolas"/>
                <a:ea typeface="Microsoft YaHe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21608"/>
            <a:ext cx="21579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EDF5"/>
                </a:solidFill>
                <a:latin typeface="Microsoft YaHei"/>
                <a:ea typeface="Microsoft YaHei"/>
              </a:rPr>
              <a:t>演示视频、PPT 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3" y="3721608"/>
            <a:ext cx="3822191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2CBD9"/>
                </a:solidFill>
                <a:latin typeface="Microsoft YaHei"/>
                <a:ea typeface="Microsoft YaHei"/>
              </a:rPr>
              <a:t>流程清晰 · 核心功能 · 技术融合 · 创新重点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297680"/>
            <a:ext cx="7699248" cy="402336"/>
          </a:xfrm>
          <a:prstGeom prst="roundRect">
            <a:avLst>
              <a:gd name="adj" fmla="val 18181"/>
            </a:avLst>
          </a:prstGeom>
          <a:solidFill>
            <a:srgbClr val="E0556E"/>
          </a:solidFill>
          <a:ln w="762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297680"/>
            <a:ext cx="841248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证据口径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97680"/>
            <a:ext cx="656539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已通过的测试证明流程可运行；合成数据只证明结构性演示。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548640"/>
            <a:ext cx="8446088" cy="43479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dirty="0">
                <a:solidFill>
                  <a:srgbClr val="E8EDF5"/>
                </a:solidFill>
                <a:latin typeface="Microsoft YaHei"/>
                <a:ea typeface="Microsoft YaHei"/>
              </a:rPr>
              <a:t>Windows </a:t>
            </a:r>
            <a:r>
              <a:rPr sz="24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原生环境即可完成核心验收，Docker</a:t>
            </a:r>
            <a:r>
              <a:rPr sz="2400" b="1" i="0" dirty="0">
                <a:solidFill>
                  <a:srgbClr val="E8EDF5"/>
                </a:solidFill>
                <a:latin typeface="Microsoft YaHei"/>
                <a:ea typeface="Microsoft YaHei"/>
              </a:rPr>
              <a:t> </a:t>
            </a:r>
            <a:r>
              <a:rPr sz="24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是可选增强</a:t>
            </a:r>
            <a:endParaRPr sz="2400" b="1" i="0" dirty="0">
              <a:solidFill>
                <a:srgbClr val="E8EDF5"/>
              </a:solidFill>
              <a:latin typeface="Microsoft YaHei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256032"/>
            <a:ext cx="713232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3C2A6"/>
                </a:solidFill>
                <a:latin typeface="Consolas"/>
                <a:ea typeface="Microsoft YaHei"/>
              </a:rPr>
              <a:t>18 · 评委复现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1312" y="256032"/>
            <a:ext cx="38404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325880" cy="41148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7863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EDF5"/>
                </a:solidFill>
                <a:latin typeface="Microsoft YaHei"/>
                <a:ea typeface="Microsoft YaHei"/>
              </a:rPr>
              <a:t>最短验收路径从健康检查开始，沿着同一条学习闭环走到反馈与运行边界。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9CF5"/>
                </a:solidFill>
                <a:latin typeface="Consolas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安装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Python 3.11
Node 20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719072" y="2807208"/>
            <a:ext cx="164592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20240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29968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3C2A6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启动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后端 8000
前端 5173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54096" y="2807208"/>
            <a:ext cx="164592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255264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98BF0"/>
                </a:solidFill>
                <a:latin typeface="Consolas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注册 / 冷启动
目标与偏好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89120" y="2807208"/>
            <a:ext cx="164592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90288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A33C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7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Agent Timeline
证据与资源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724144" y="2807208"/>
            <a:ext cx="164592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25312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E055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556E"/>
                </a:solidFill>
                <a:latin typeface="Consolas"/>
                <a:ea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1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1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测验 / 错题
路径更新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059168" y="2807208"/>
            <a:ext cx="164592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260336" y="2212848"/>
            <a:ext cx="1097280" cy="1426464"/>
          </a:xfrm>
          <a:prstGeom prst="roundRect">
            <a:avLst>
              <a:gd name="adj" fmla="val 7500"/>
            </a:avLst>
          </a:prstGeom>
          <a:solidFill>
            <a:srgbClr val="0C1320"/>
          </a:solidFill>
          <a:ln w="1270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70063" y="2395728"/>
            <a:ext cx="8778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F9CF5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1775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EDF5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51775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C2CBD9"/>
                </a:solidFill>
                <a:latin typeface="Microsoft YaHei"/>
                <a:ea typeface="Microsoft YaHei"/>
              </a:rPr>
              <a:t>/api/code/status
模式确认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" y="4059936"/>
            <a:ext cx="7918704" cy="475488"/>
          </a:xfrm>
          <a:prstGeom prst="roundRect">
            <a:avLst>
              <a:gd name="adj" fmla="val 15384"/>
            </a:avLst>
          </a:prstGeom>
          <a:solidFill>
            <a:srgbClr val="33C2A6"/>
          </a:solidFill>
          <a:ln w="762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059936"/>
            <a:ext cx="8412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1320"/>
                </a:solidFill>
                <a:latin typeface="Consolas"/>
                <a:ea typeface="Microsoft YaHei"/>
              </a:rPr>
              <a:t>当前证据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4059936"/>
            <a:ext cx="67848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1320"/>
                </a:solidFill>
                <a:latin typeface="Microsoft YaHei"/>
                <a:ea typeface="Microsoft YaHei"/>
              </a:rPr>
              <a:t>145 passed · 1 skipped · 47/47 运行时矩阵 · 无 Docker E2E · trusted_local smoke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4736592"/>
            <a:ext cx="768096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6AC"/>
                </a:solidFill>
                <a:latin typeface="Microsoft YaHei"/>
                <a:ea typeface="Microsoft YaHei"/>
              </a:rPr>
              <a:t>证据 · outputs/e2e_no_docker/report.json · outputs/runtime_security_matrix.json · 测试说明书 §2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1078992"/>
            <a:ext cx="5358384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EduMatrix</a:t>
            </a:r>
            <a:r>
              <a:rPr sz="2800" b="1" i="0" dirty="0">
                <a:solidFill>
                  <a:srgbClr val="E8EDF5"/>
                </a:solidFill>
                <a:latin typeface="Microsoft YaHei"/>
                <a:ea typeface="Microsoft YaHei"/>
              </a:rPr>
              <a:t> </a:t>
            </a:r>
            <a:r>
              <a:rPr sz="2800" b="1" i="0" dirty="0" err="1">
                <a:solidFill>
                  <a:srgbClr val="E8EDF5"/>
                </a:solidFill>
                <a:latin typeface="Microsoft YaHei"/>
                <a:ea typeface="Microsoft YaHei"/>
              </a:rPr>
              <a:t>的创新，在于把学习决策做成闭环</a:t>
            </a:r>
            <a:r>
              <a:rPr sz="2800" b="1" i="0" dirty="0">
                <a:solidFill>
                  <a:srgbClr val="E8EDF5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50592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2CBD9"/>
                </a:solidFill>
                <a:latin typeface="Microsoft YaHei"/>
                <a:ea typeface="Microsoft YaHei"/>
              </a:rPr>
              <a:t>画像决定路径，证据约束生成，协作过程可见，反馈推动下一次决策。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63240"/>
            <a:ext cx="2148840" cy="54864"/>
          </a:xfrm>
          <a:prstGeom prst="rect">
            <a:avLst/>
          </a:prstGeom>
          <a:gradFill rotWithShape="1">
            <a:gsLst>
              <a:gs pos="0">
                <a:srgbClr val="F2A33C"/>
              </a:gs>
              <a:gs pos="100000">
                <a:srgbClr val="4F9CF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13970">
            <a:solidFill>
              <a:srgbClr val="4F9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21024"/>
            <a:ext cx="10515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F9CF5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04487"/>
            <a:ext cx="105156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BD9"/>
                </a:solidFill>
                <a:latin typeface="Microsoft YaHei"/>
                <a:ea typeface="Microsoft YaHei"/>
              </a:rPr>
              <a:t>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1408" y="352044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13970">
            <a:solidFill>
              <a:srgbClr val="33C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21408" y="3621024"/>
            <a:ext cx="10515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3C2A6"/>
                </a:solidFill>
                <a:latin typeface="Microsoft YaHei"/>
                <a:ea typeface="Microsoft YaHei"/>
              </a:rPr>
              <a:t>证据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904487"/>
            <a:ext cx="105156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BD9"/>
                </a:solidFill>
                <a:latin typeface="Microsoft YaHei"/>
                <a:ea typeface="Microsoft YaHei"/>
              </a:rPr>
              <a:t>可信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352044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13970">
            <a:solidFill>
              <a:srgbClr val="A9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3621024"/>
            <a:ext cx="10515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8BF0"/>
                </a:solidFill>
                <a:latin typeface="Microsoft YaHei"/>
                <a:ea typeface="Microsoft YaHei"/>
              </a:rPr>
              <a:t>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3904487"/>
            <a:ext cx="105156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BD9"/>
                </a:solidFill>
                <a:latin typeface="Microsoft YaHei"/>
                <a:ea typeface="Microsoft YaHei"/>
              </a:rPr>
              <a:t>可见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3520440"/>
            <a:ext cx="1051560" cy="658368"/>
          </a:xfrm>
          <a:prstGeom prst="roundRect">
            <a:avLst>
              <a:gd name="adj" fmla="val 11111"/>
            </a:avLst>
          </a:prstGeom>
          <a:solidFill>
            <a:srgbClr val="0C1320"/>
          </a:solidFill>
          <a:ln w="13970">
            <a:solidFill>
              <a:srgbClr val="F2A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3621024"/>
            <a:ext cx="105156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904487"/>
            <a:ext cx="105156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CBD9"/>
                </a:solidFill>
                <a:latin typeface="Microsoft YaHei"/>
                <a:ea typeface="Microsoft YaHei"/>
              </a:rPr>
              <a:t>持续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115568"/>
            <a:ext cx="1993392" cy="3474720"/>
          </a:xfrm>
          <a:prstGeom prst="roundRect">
            <a:avLst>
              <a:gd name="adj" fmla="val 6422"/>
            </a:avLst>
          </a:prstGeom>
          <a:solidFill>
            <a:srgbClr val="F4F7F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1481328"/>
            <a:ext cx="1463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>
                <a:solidFill>
                  <a:srgbClr val="4F9CF5"/>
                </a:solidFill>
                <a:latin typeface="Consolas"/>
                <a:ea typeface="Microsoft YaHei"/>
              </a:rPr>
              <a:t>A3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101760"/>
            <a:ext cx="1463040" cy="30700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 dirty="0">
                <a:solidFill>
                  <a:srgbClr val="0E1A2B"/>
                </a:solidFill>
                <a:latin typeface="Microsoft YaHei"/>
                <a:ea typeface="Microsoft YaHei"/>
              </a:rPr>
              <a:t>金海洋</a:t>
            </a:r>
            <a:endParaRPr sz="1600" b="1" i="0" dirty="0">
              <a:solidFill>
                <a:srgbClr val="0E1A2B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47104" y="2788920"/>
            <a:ext cx="1463040" cy="21909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sz="1050" b="0" i="0" dirty="0">
              <a:solidFill>
                <a:srgbClr val="5A6B82"/>
              </a:solidFill>
              <a:latin typeface="Microsoft YaHei"/>
              <a:ea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47104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1A2B"/>
                </a:solidFill>
                <a:latin typeface="Microsoft YaHei"/>
                <a:ea typeface="Microsoft YaHei"/>
              </a:rPr>
              <a:t>林之正
杨一鸿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160520"/>
            <a:ext cx="14630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B82"/>
                </a:solidFill>
                <a:latin typeface="Microsoft YaHei"/>
                <a:ea typeface="Microsoft YaHei"/>
              </a:rPr>
              <a:t>指导教师 王成玉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59452"/>
            <a:ext cx="8046720" cy="9144"/>
          </a:xfrm>
          <a:prstGeom prst="rect">
            <a:avLst/>
          </a:prstGeom>
          <a:solidFill>
            <a:srgbClr val="526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50892"/>
            <a:ext cx="64922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6AC"/>
                </a:solidFill>
                <a:latin typeface="Consolas"/>
                <a:ea typeface="Microsoft YaHei"/>
              </a:rPr>
              <a:t>EDUMATRIX · A3 评委阅读版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50892"/>
            <a:ext cx="36576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6AC"/>
                </a:solidFill>
                <a:latin typeface="Consolas"/>
                <a:ea typeface="Microsoft YaHei"/>
              </a:rPr>
              <a:t>20</a:t>
            </a: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96306491-1FCA-5B39-FEFC-C83F775F0CC4}"/>
              </a:ext>
            </a:extLst>
          </p:cNvPr>
          <p:cNvSpPr txBox="1"/>
          <p:nvPr/>
        </p:nvSpPr>
        <p:spPr>
          <a:xfrm>
            <a:off x="6373367" y="2362256"/>
            <a:ext cx="1911097" cy="434799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 err="1">
                <a:latin typeface="Microsoft YaHei"/>
                <a:ea typeface="Microsoft YaHei"/>
              </a:rPr>
              <a:t>EduMatrix</a:t>
            </a:r>
            <a:endParaRPr sz="2400" b="1" i="0" dirty="0"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1249</Words>
  <Application>Microsoft Office PowerPoint</Application>
  <PresentationFormat>全屏显示(16:9)</PresentationFormat>
  <Paragraphs>386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战峰 林</cp:lastModifiedBy>
  <cp:revision>2</cp:revision>
  <dcterms:created xsi:type="dcterms:W3CDTF">2013-01-27T09:14:16Z</dcterms:created>
  <dcterms:modified xsi:type="dcterms:W3CDTF">2026-07-19T20:14:40Z</dcterms:modified>
  <cp:category/>
</cp:coreProperties>
</file>