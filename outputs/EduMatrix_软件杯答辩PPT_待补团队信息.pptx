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DEE9E1"/>
                </a:solidFill>
                <a:latin typeface="Microsoft YaHei"/>
              </a:rPr>
              <a:t>软件杯 A3 · 作品答辩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212080" cy="1325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EduMatrix
智教矩阵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50292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DEE9E1"/>
                </a:solidFill>
                <a:latin typeface="Microsoft YaHei"/>
              </a:rPr>
              <a:t>面向机器学习导论的个性化资源生成与学习多智能体系统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2880360" cy="475488"/>
          </a:xfrm>
          <a:prstGeom prst="roundRect">
            <a:avLst>
              <a:gd name="adj" fmla="val 12000"/>
            </a:avLst>
          </a:prstGeom>
          <a:solidFill>
            <a:srgbClr val="4B7057"/>
          </a:solidFill>
          <a:ln>
            <a:solidFill>
              <a:srgbClr val="4B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05656"/>
            <a:ext cx="260604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一问 · 多智能体 · 五类资源 · 反馈闭环</a:t>
            </a:r>
          </a:p>
        </p:txBody>
      </p:sp>
      <p:pic>
        <p:nvPicPr>
          <p:cNvPr id="7" name="Picture 6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77240"/>
            <a:ext cx="5212080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97880"/>
            <a:ext cx="3657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B8C9BE"/>
                </a:solidFill>
                <a:latin typeface="Microsoft YaHei"/>
              </a:rPr>
              <a:t>团队 / 学校：待补
版本：2026-07-19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为什么需要 EduMatrix？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92522"/>
                </a:solidFill>
                <a:latin typeface="Microsoft YaHei"/>
              </a:rPr>
              <a:t>同一份课程资源，无法同时适配不同基础、目标和认知偏好的学习者。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64008" cy="1965960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3154679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资源同质化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07791"/>
            <a:ext cx="3127248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讲义、代码和练习通常由学生自己拼接，难以根据学习状态改变顺序和难度。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33172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2331720"/>
            <a:ext cx="64008" cy="1965960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96312"/>
            <a:ext cx="3154679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知识缺证据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1"/>
            <a:ext cx="3127248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大模型回答缺少课程图谱、来源和跨模态一致性约束，理科内容更容易产生认知冲突。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331720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2331720"/>
            <a:ext cx="64008" cy="1965960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496312"/>
            <a:ext cx="3154679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反馈不闭环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907791"/>
            <a:ext cx="3127248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答题、错因、掌握度和复习计划分散在不同页面，下一次学习无法使用最新状态。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106070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304B3D"/>
                </a:solidFill>
                <a:latin typeface="Microsoft YaHei"/>
              </a:rPr>
              <a:t>目标：把“学生提问”升级为可观测、可解释、可持续更新的学习动作。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产品闭环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一条完整的个性化学习闭环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B68D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92522"/>
                </a:solidFill>
                <a:latin typeface="Microsoft YaHei"/>
              </a:rPr>
              <a:t>画像诊断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82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专业、目标、偏好、掌握度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6700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01168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7" y="22128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B68D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7" y="269748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92522"/>
                </a:solidFill>
                <a:latin typeface="Microsoft YaHei"/>
              </a:rPr>
              <a:t>路径规划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3182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知识图谱 + ZPD + A*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6700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01168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2128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B68DA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69748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92522"/>
                </a:solidFill>
                <a:latin typeface="Microsoft YaHei"/>
              </a:rPr>
              <a:t>证据检索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182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文本、图像、图谱来源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26700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01168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22128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B68DA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9748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92522"/>
                </a:solidFill>
                <a:latin typeface="Microsoft YaHei"/>
              </a:rPr>
              <a:t>资源生成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3182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讲义、导图、代码、题目、视频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26700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201168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2212848"/>
            <a:ext cx="457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B68DA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269748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92522"/>
                </a:solidFill>
                <a:latin typeface="Microsoft YaHei"/>
              </a:rPr>
              <a:t>反馈更新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182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答题、错因、复习与再规划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4663440"/>
            <a:ext cx="9509760" cy="640080"/>
          </a:xfrm>
          <a:prstGeom prst="roundRect">
            <a:avLst>
              <a:gd name="adj" fmla="val 12000"/>
            </a:avLst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4837176"/>
            <a:ext cx="90525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304B3D"/>
                </a:solidFill>
                <a:latin typeface="Microsoft YaHei"/>
              </a:rPr>
              <a:t>每一次交互都会沉淀为下一次决策的上下文，而不是一次性回答。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系统架构：1 + 3 + 5 协同矩阵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交互中枢 ·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67712"/>
            <a:ext cx="2944368" cy="5212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苏格拉底导师
接收问题、统一路由、流式输出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5623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认知治理 ·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67712"/>
            <a:ext cx="2944368" cy="5212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画像探针 · 路径规划师 · 量化评估师
把学习状态转成决策约束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9164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9164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资源工厂 ·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267712"/>
            <a:ext cx="2944368" cy="5212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理论教授 · 逻辑画师 · 极客助教
考官智能体 · 视频推荐官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657600"/>
            <a:ext cx="10149840" cy="1143000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041648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Vue 3 /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014215"/>
            <a:ext cx="502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DEE9E1"/>
                </a:solidFill>
                <a:latin typeface="Microsoft YaHei"/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41648"/>
            <a:ext cx="21031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FastAPI + JWT + 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014215"/>
            <a:ext cx="502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DEE9E1"/>
                </a:solidFill>
                <a:latin typeface="Microsoft YaHei"/>
              </a:rP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41648"/>
            <a:ext cx="224028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Hybrid RAG + 学情算法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14215"/>
            <a:ext cx="502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DEE9E1"/>
                </a:solidFill>
                <a:latin typeface="Microsoft YaHei"/>
              </a:rP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041648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SQLite/WAL + 可选沙箱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9240"/>
            <a:ext cx="101498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304B3D"/>
                </a:solidFill>
                <a:latin typeface="Microsoft YaHei"/>
              </a:rPr>
              <a:t>设计原则：证据进入生成前，跨模态一致性检查发生在生成后。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个性化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同一主题，三种学习路径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pic>
        <p:nvPicPr>
          <p:cNvPr id="7" name="Picture 6" descr="06-learning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640080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60020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600200"/>
            <a:ext cx="64008" cy="1097280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1764792"/>
            <a:ext cx="3794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视觉型学习者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176272"/>
            <a:ext cx="3767328" cy="3840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图示演示 + 具体例子
优先建立概念关系和可视化路径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907792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2907792"/>
            <a:ext cx="64008" cy="1097280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3072384"/>
            <a:ext cx="3794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项目型学习者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483864"/>
            <a:ext cx="3767328" cy="3840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代码实操 + 分步引导
优先进入可运行案例和迁移练习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215384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4215384"/>
            <a:ext cx="64008" cy="1097280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4379976"/>
            <a:ext cx="3794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研究型学习者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4791456"/>
            <a:ext cx="3767328" cy="3840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对比解析 + 分步引导
优先解释前置关系和理论边界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多智能体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一次提问，生成五类可用资源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pic>
        <p:nvPicPr>
          <p:cNvPr id="7" name="Picture 6" descr="04-chat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589788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95160" y="1572768"/>
            <a:ext cx="4389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1572768"/>
            <a:ext cx="64008" cy="749808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1737360"/>
            <a:ext cx="4069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讲义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2148840"/>
            <a:ext cx="4041648" cy="36575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概念、推导、误区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468880"/>
            <a:ext cx="4389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95160" y="2468880"/>
            <a:ext cx="64008" cy="749808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2633472"/>
            <a:ext cx="4069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导图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044952"/>
            <a:ext cx="4041648" cy="36575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前置关系、结构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3364992"/>
            <a:ext cx="4389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3364992"/>
            <a:ext cx="64008" cy="749808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3529584"/>
            <a:ext cx="4069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3941064"/>
            <a:ext cx="4041648" cy="36575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可操作实训案例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4261104"/>
            <a:ext cx="4389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4261104"/>
            <a:ext cx="64008" cy="749808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4425696"/>
            <a:ext cx="4069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题目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4837176"/>
            <a:ext cx="4041648" cy="36575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分层练习与反馈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5157216"/>
            <a:ext cx="43891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5157216"/>
            <a:ext cx="64008" cy="749808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321808"/>
            <a:ext cx="4069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5733288"/>
            <a:ext cx="4041648" cy="36575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推荐与脚本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6053328"/>
            <a:ext cx="4206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304B3D"/>
                </a:solidFill>
                <a:latin typeface="Microsoft YaHei"/>
              </a:rPr>
              <a:t>Agent Timeline 让评委看到协同过程，而不是只看到最终文本。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RAG 与一致性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证据链路：让生成结果可追溯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2918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2944368" cy="1344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课程知识图谱
文本切片 / 图像切片
固定证据 ID 与分数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331720"/>
            <a:ext cx="502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5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2918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81051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清洗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2"/>
            <a:ext cx="2944368" cy="1344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DRAG 证据裁决
低置信度拒答
owner 过滤私有资料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331720"/>
            <a:ext cx="502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500" b="1">
                <a:solidFill>
                  <a:srgbClr val="304B3D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45920"/>
            <a:ext cx="32918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16459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810512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21992"/>
            <a:ext cx="2944368" cy="1344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公式、变量、概念
跨模态对齐
失败时局部重生成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89120"/>
            <a:ext cx="10195560" cy="868680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663440"/>
            <a:ext cx="9646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本地固定知识索引实测：返回 6 条证据，含文本与图像模态；外部搜索在证据生成阶段关闭。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学习反馈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反馈不是终点，而是下一轮决策的输入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pic>
        <p:nvPicPr>
          <p:cNvPr id="7" name="Picture 6" descr="06-learning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5778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1874519"/>
            <a:ext cx="457200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822"/>
                </a:solidFill>
                <a:latin typeface="Microsoft YaHei"/>
              </a:defRPr>
            </a:pPr>
            <a:r>
              <a:t>●  答题结果 → 掌握度与错因</a:t>
            </a:r>
          </a:p>
          <a:p>
            <a:pPr>
              <a:spcAft>
                <a:spcPts val="800"/>
              </a:spcAft>
              <a:defRPr sz="1700">
                <a:solidFill>
                  <a:srgbClr val="1E2822"/>
                </a:solidFill>
                <a:latin typeface="Microsoft YaHei"/>
              </a:defRPr>
            </a:pPr>
            <a:r>
              <a:t>●  行为日志 → 认知负荷与专注度</a:t>
            </a:r>
          </a:p>
          <a:p>
            <a:pPr>
              <a:spcAft>
                <a:spcPts val="800"/>
              </a:spcAft>
              <a:defRPr sz="1700">
                <a:solidFill>
                  <a:srgbClr val="1E2822"/>
                </a:solidFill>
                <a:latin typeface="Microsoft YaHei"/>
              </a:defRPr>
            </a:pPr>
            <a:r>
              <a:t>●  错题记录 → 相似题与间隔复习</a:t>
            </a:r>
          </a:p>
          <a:p>
            <a:pPr>
              <a:spcAft>
                <a:spcPts val="800"/>
              </a:spcAft>
              <a:defRPr sz="1700">
                <a:solidFill>
                  <a:srgbClr val="1E2822"/>
                </a:solidFill>
                <a:latin typeface="Microsoft YaHei"/>
              </a:defRPr>
            </a:pPr>
            <a:r>
              <a:t>●  新状态 → 路径重规划与资源重排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4709160"/>
            <a:ext cx="4572000" cy="685800"/>
          </a:xfrm>
          <a:prstGeom prst="roundRect">
            <a:avLst>
              <a:gd name="adj" fmla="val 12000"/>
            </a:avLst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4910328"/>
            <a:ext cx="41605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304B3D"/>
                </a:solidFill>
                <a:latin typeface="Microsoft YaHei"/>
              </a:rPr>
              <a:t>从“会不会”走向“为什么不会、下一步学什么”。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工程与安全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提交策略：无 Docker 默认，Docker 可选增强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749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4008" cy="1874519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548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评委默认路径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4727448" cy="11612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Python + Node + SQLite
核心学习闭环可启动
无需 Docker Desktop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50749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64008" cy="1874519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810512"/>
            <a:ext cx="47548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可选代码能力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221992"/>
            <a:ext cx="4727448" cy="11612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EDUMATRIX_SANDBOX_MODE=docker
非特权容器、无网络、资源限制
未启用时明确 503，不回退宿主进程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241280" cy="14630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22"/>
                </a:solidFill>
                <a:latin typeface="Microsoft YaHei"/>
              </a:defRPr>
            </a:pPr>
            <a:r>
              <a:t>●  JWT 服务端身份绑定与跨用户 owner 过滤</a:t>
            </a:r>
          </a:p>
          <a:p>
            <a:pPr>
              <a:spcAft>
                <a:spcPts val="800"/>
              </a:spcAft>
              <a:defRPr sz="1500">
                <a:solidFill>
                  <a:srgbClr val="1E2822"/>
                </a:solidFill>
                <a:latin typeface="Microsoft YaHei"/>
              </a:defRPr>
            </a:pPr>
            <a:r>
              <a:t>●  生产环境拒绝固定 JWT secret</a:t>
            </a:r>
          </a:p>
          <a:p>
            <a:pPr>
              <a:spcAft>
                <a:spcPts val="800"/>
              </a:spcAft>
              <a:defRPr sz="1500">
                <a:solidFill>
                  <a:srgbClr val="1E2822"/>
                </a:solidFill>
                <a:latin typeface="Microsoft YaHei"/>
              </a:defRPr>
            </a:pPr>
            <a:r>
              <a:t>●  上传和远程下载有大小边界</a:t>
            </a:r>
          </a:p>
          <a:p>
            <a:pPr>
              <a:spcAft>
                <a:spcPts val="800"/>
              </a:spcAft>
              <a:defRPr sz="1500">
                <a:solidFill>
                  <a:srgbClr val="1E2822"/>
                </a:solidFill>
                <a:latin typeface="Microsoft YaHei"/>
              </a:defRPr>
            </a:pPr>
            <a:r>
              <a:t>●  Playwright 只在 PDF 导出时需要，与 Docker 独立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验证结果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当前可复核证据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80/80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完整集成测试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4B68DA"/>
                </a:solidFill>
                <a:latin typeface="Microsoft YaHei"/>
              </a:rPr>
              <a:t>62/62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成员专项测试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E19A36"/>
                </a:solidFill>
                <a:latin typeface="Microsoft YaHei"/>
              </a:rPr>
              <a:t>47/47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运行时安全矩阵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304B3D"/>
                </a:solidFill>
                <a:latin typeface="Microsoft YaHei"/>
              </a:rPr>
              <a:t>10/10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安全契约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4B68DA"/>
                </a:solidFill>
                <a:latin typeface="Microsoft YaHei"/>
              </a:rPr>
              <a:t>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资源类型覆盖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691640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920240"/>
            <a:ext cx="16916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E19A36"/>
                </a:solidFill>
                <a:latin typeface="Microsoft Ya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514600"/>
            <a:ext cx="1508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636F67"/>
                </a:solidFill>
                <a:latin typeface="Microsoft YaHei"/>
              </a:rPr>
              <a:t>本地 RAG 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033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522"/>
                </a:solidFill>
                <a:latin typeface="Microsoft YaHei"/>
              </a:rPr>
              <a:t>证据性质：项目实测 / 代码静态证据 / 合成演示数据。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43400"/>
            <a:ext cx="10241280" cy="13258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822"/>
                </a:solidFill>
                <a:latin typeface="Microsoft YaHei"/>
              </a:defRPr>
            </a:pPr>
            <a:r>
              <a:t>●  无 Docker 浏览器 E2E：注册、初始化、仪表盘、对话、学习路径、沙箱状态</a:t>
            </a:r>
          </a:p>
          <a:p>
            <a:pPr>
              <a:spcAft>
                <a:spcPts val="800"/>
              </a:spcAft>
              <a:defRPr sz="1400">
                <a:solidFill>
                  <a:srgbClr val="1E2822"/>
                </a:solidFill>
                <a:latin typeface="Microsoft YaHei"/>
              </a:defRPr>
            </a:pPr>
            <a:r>
              <a:t>●  创新证据：三组画像、固定知识集、单 Agent/多 Agent与无 RAG/有 RAG结构对比</a:t>
            </a:r>
          </a:p>
          <a:p>
            <a:pPr>
              <a:spcAft>
                <a:spcPts val="800"/>
              </a:spcAft>
              <a:defRPr sz="1400">
                <a:solidFill>
                  <a:srgbClr val="1E2822"/>
                </a:solidFill>
                <a:latin typeface="Microsoft YaHei"/>
              </a:defRPr>
            </a:pPr>
            <a:r>
              <a:t>●  未宣称真实用户实验指标，避免把设计目标写成实测结果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答辩流程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七分钟演示路径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36192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536192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问题与价值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67128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76856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0:40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94560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画像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94560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三组差异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25496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35224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852927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答疑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852927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同题不同资源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83863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93591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511295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511295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RAG +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42231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59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4:20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169663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169663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测验 → 画像 → 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00599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10327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828031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工程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828031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安全与部署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458967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192522"/>
          </a:solidFill>
          <a:ln>
            <a:solidFill>
              <a:srgbClr val="192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68695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6:40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486399"/>
            <a:ext cx="1371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收束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486399"/>
            <a:ext cx="72237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636F67"/>
                </a:solidFill>
                <a:latin typeface="Microsoft YaHei"/>
              </a:rPr>
              <a:t>证据与边界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4B68DA"/>
                </a:solidFill>
                <a:latin typeface="Microsoft YaHei"/>
              </a:rPr>
              <a:t>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92522"/>
                </a:solidFill>
                <a:latin typeface="Microsoft YaHei"/>
              </a:rPr>
              <a:t>我们交付的不是一个聊天框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02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500" b="1">
                <a:solidFill>
                  <a:srgbClr val="636F67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13716"/>
          </a:xfrm>
          <a:prstGeom prst="rect">
            <a:avLst/>
          </a:prstGeom>
          <a:solidFill>
            <a:srgbClr val="DEE9E1"/>
          </a:solidFill>
          <a:ln>
            <a:solidFill>
              <a:srgbClr val="DEE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789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636F67"/>
                </a:solidFill>
                <a:latin typeface="Microsoft YaHei"/>
              </a:rPr>
              <a:t>EduMatrix 智教矩阵  |  软件杯 A3  |  事实状态以源码与证据为准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800" b="1">
                <a:solidFill>
                  <a:srgbClr val="192522"/>
                </a:solidFill>
                <a:latin typeface="Microsoft YaHei"/>
              </a:rPr>
              <a:t>而是一条可观测、可解释、可复现的学习闭环。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88036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304B3D"/>
          </a:solidFill>
          <a:ln>
            <a:solidFill>
              <a:srgbClr val="3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04495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现在已具备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56432"/>
            <a:ext cx="2807208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多智能体资源工厂
个性化画像与路径
证据与反馈链路
无 Docker 核心验收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88036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288036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4B68DA"/>
          </a:solidFill>
          <a:ln>
            <a:solidFill>
              <a:srgbClr val="4B6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04495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正在补齐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456432"/>
            <a:ext cx="2807208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前端最终视觉收口
官方格式与团队信息
最终录屏与提交压缩包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88036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88036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E19A36"/>
          </a:solidFill>
          <a:ln>
            <a:solidFill>
              <a:srgbClr val="E19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04495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92522"/>
                </a:solidFill>
                <a:latin typeface="Microsoft YaHei"/>
              </a:rPr>
              <a:t>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456432"/>
            <a:ext cx="2807208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36F67"/>
                </a:solidFill>
                <a:latin typeface="Microsoft YaHei"/>
              </a:rPr>
              <a:t>数据有标签
结果可复现
能力不夸大
风险主动说明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200" b="1">
                <a:solidFill>
                  <a:srgbClr val="304B3D"/>
                </a:solidFill>
                <a:latin typeface="Microsoft YaHei"/>
              </a:rPr>
              <a:t>谢谢各位评委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